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743200" cy="2743200"/>
          </a:xfrm>
          <a:prstGeom prst="ellipse">
            <a:avLst/>
          </a:prstGeom>
          <a:solidFill>
            <a:srgbClr val="922B21">
              <a:alpha val="28000"/>
            </a:srgbClr>
          </a:solidFill>
          <a:ln w="12700">
            <a:solidFill>
              <a:srgbClr val="922B21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BLOOD DONATION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&amp; Inventory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19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22860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·  Wolkite University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for Efficient Blood Bank Operations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106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2801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rationale and context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91056"/>
            <a:ext cx="38404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91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600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77393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operational challenges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38404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84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093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22677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sub-objectives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38404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786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7614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user flow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72384"/>
            <a:ext cx="38404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723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081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Privilege Architecture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32552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roles &amp; RBAC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38404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" y="3575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Portal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37490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&amp; appointment workflow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38404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599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" y="4069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Nurse Portals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42428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operations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553712"/>
            <a:ext cx="384048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537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" y="4562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736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relational tables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1097280"/>
            <a:ext cx="384048" cy="347472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0972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0368" y="1106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Engine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0368" y="12801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logic &amp; constraints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1591056"/>
            <a:ext cx="384048" cy="347472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591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30368" y="1600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State Machine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0368" y="177393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Success / Failed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084832"/>
            <a:ext cx="384048" cy="347472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084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30368" y="2093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Inventory Management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30368" y="22677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tracking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2578608"/>
            <a:ext cx="384048" cy="347472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5786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30368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30368" y="27614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session management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3072384"/>
            <a:ext cx="384048" cy="347472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0723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30368" y="3081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30368" y="32552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isolation boundary tests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3566160"/>
            <a:ext cx="384048" cy="347472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30368" y="3575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Technologies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30368" y="37490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tools used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4059936"/>
            <a:ext cx="384048" cy="347472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40599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230368" y="4069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230368" y="42428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 &amp; roadmap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 &amp; Background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3657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transfusion services are a critical component of modern healthcare. Blood is a perishable resource: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• Red Blood Cells: shelf life of 35–42 days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• Platelets: shelf life of only 5 days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inventory control leads to two critical outcomes: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• SHORTAGES — threatening patient lives in emergencies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• WASTAGE — rare units expiring due to over-stocking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regional facilities rely on localized, semi-manual tracking of blood groups, donor eligibility, and hospital requests.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1097280"/>
            <a:ext cx="1600200" cy="164592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32120" y="1371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35–42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532120" y="2103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shelf life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 Blood Cells)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69480" y="1097280"/>
            <a:ext cx="1600200" cy="164592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69480" y="1371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269480" y="2103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shelf life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(Platelets)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2971800"/>
            <a:ext cx="1600200" cy="1645920"/>
          </a:xfrm>
          <a:prstGeom prst="rect">
            <a:avLst/>
          </a:prstGeom>
          <a:solidFill>
            <a:srgbClr val="1A25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32120" y="3246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532120" y="3977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supported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2971800"/>
            <a:ext cx="1600200" cy="1645920"/>
          </a:xfrm>
          <a:prstGeom prst="rect">
            <a:avLst/>
          </a:prstGeom>
          <a:solidFill>
            <a:srgbClr val="1A25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3246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269480" y="3977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25296"/>
            <a:ext cx="914400" cy="914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2529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Eligibility Errors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attempt to donate before the medically mandated 90-day recovery window. Manual screening causes physical strain and wastes resources.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95728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23744"/>
            <a:ext cx="914400" cy="9144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2374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!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248716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85292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lack real-time visibility into regional inventory. Staff make multiple phone calls to verify blood group availability in emergencies, wasting critical minutes.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94176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822192"/>
            <a:ext cx="914400" cy="914400"/>
          </a:xfrm>
          <a:prstGeom prst="ellipse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221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?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63040" y="378561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Collection Channels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151376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cryptographic matching codes, tracking completed donations at specific clinics leads to mismatched inventory records and duplicate logging.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82296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9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secure, multi-tier web-based system eliminating operational lag between donors, medical staff, and healthcare institutions.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11680"/>
            <a:ext cx="502920" cy="117043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3500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eligibility screening using deterministic metrics: Age ≥ 18, Weight ≥ 50 kg, 90-day cooldown.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11680"/>
            <a:ext cx="502920" cy="117043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3500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219456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secure portal for four discrete roles with session tracking and Role-Based Access Control (RBAC).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337560"/>
            <a:ext cx="502920" cy="117043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675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52044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inventory balance updates via transactional SQL operations after each donation event.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3756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337560"/>
            <a:ext cx="502920" cy="117043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675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352044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operational summary logs and CSV-exportable daily performance reports for administrators.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0" y="1737360"/>
            <a:ext cx="2194560" cy="155448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922B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737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1828800" cy="6858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1371600"/>
            <a:ext cx="1828800" cy="6858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1371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3200400"/>
            <a:ext cx="1828800" cy="6858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" y="3200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Nurses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3200400"/>
            <a:ext cx="1828800" cy="6858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3200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75688" y="2194560"/>
            <a:ext cx="1417320" cy="640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194560"/>
            <a:ext cx="1481328" cy="640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5688" y="3474720"/>
            <a:ext cx="1417320" cy="640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3474720"/>
            <a:ext cx="1481328" cy="640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3657600"/>
            <a:ext cx="2468880" cy="594360"/>
          </a:xfrm>
          <a:prstGeom prst="rect">
            <a:avLst/>
          </a:prstGeom>
          <a:solidFill>
            <a:srgbClr val="1E2D3D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17136" y="3319272"/>
            <a:ext cx="109728" cy="365760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4480560"/>
            <a:ext cx="201168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480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4480560"/>
            <a:ext cx="201168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4480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4480560"/>
            <a:ext cx="201168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480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Appointments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4480560"/>
            <a:ext cx="201168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4480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Privilege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roles with strict Role-Based Access Control (RBAC)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14300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143000"/>
            <a:ext cx="210312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61288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100584" cy="1005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88366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user management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100584" cy="1005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542032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override &amp; audit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236976"/>
            <a:ext cx="100584" cy="1005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20040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system logs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895344"/>
            <a:ext cx="100584" cy="1005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85876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capture &amp; timestamps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95728" y="114300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95728" y="1143000"/>
            <a:ext cx="2103120" cy="65836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161288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Donor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0" y="1920240"/>
            <a:ext cx="100584" cy="10058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188366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calculator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0" y="2578608"/>
            <a:ext cx="100584" cy="10058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2542032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ticket generation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3236976"/>
            <a:ext cx="100584" cy="10058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15768" y="320040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0" y="3895344"/>
            <a:ext cx="100584" cy="10058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5768" y="385876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history ledger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90288" y="114300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0288" y="1143000"/>
            <a:ext cx="210312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161288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920240"/>
            <a:ext cx="100584" cy="10058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188366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nurse delegation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2578608"/>
            <a:ext cx="100584" cy="10058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2542032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236976"/>
            <a:ext cx="100584" cy="10058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320040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consumption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895344"/>
            <a:ext cx="100584" cy="10058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385876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metrics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84848" y="1143000"/>
            <a:ext cx="2103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84848" y="1143000"/>
            <a:ext cx="2103120" cy="6583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1161288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Nurse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949440" y="1920240"/>
            <a:ext cx="100584" cy="100584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04888" y="1883664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code lookup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49440" y="2578608"/>
            <a:ext cx="100584" cy="100584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04888" y="2542032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status updates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949440" y="3236976"/>
            <a:ext cx="100584" cy="100584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04888" y="3200400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report generation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949440" y="3895344"/>
            <a:ext cx="100584" cy="100584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04888" y="385876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donor check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Donor Portal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48640" cy="54864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1208" y="1691640"/>
            <a:ext cx="54864" cy="274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115568"/>
            <a:ext cx="7818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115568"/>
            <a:ext cx="91440" cy="6400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133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4081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creates a profile with biological data: age, weight, blood group, and medical history.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29384"/>
            <a:ext cx="548640" cy="54864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29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208" y="2478024"/>
            <a:ext cx="54864" cy="274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901952"/>
            <a:ext cx="7818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1901952"/>
            <a:ext cx="91440" cy="6400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1945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validates age (18–65), weight (≥50 kg), and 90-day cooling period before allowing booking.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15768"/>
            <a:ext cx="548640" cy="54864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" y="3264408"/>
            <a:ext cx="54864" cy="274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688336"/>
            <a:ext cx="7818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2688336"/>
            <a:ext cx="91440" cy="6400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2980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hospital, date, and time slot. System generates a cryptographic unique 6-character verification code.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502152"/>
            <a:ext cx="548640" cy="54864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208" y="4050792"/>
            <a:ext cx="54864" cy="274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474720"/>
            <a:ext cx="7818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5840" y="3474720"/>
            <a:ext cx="91440" cy="6400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&amp; Donate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376732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code to the staff nurse at the collection center for on-site verification and blood extraction.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288536"/>
            <a:ext cx="548640" cy="54864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288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5840" y="4261104"/>
            <a:ext cx="78181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5840" y="4261104"/>
            <a:ext cx="91440" cy="6400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Updated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88720" y="45537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success: inventory +1 unit, last_donation_date refreshed, total_donations counter incremented.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Hospital &amp; Nurse Portals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HOSPITAL ADMIN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737360"/>
            <a:ext cx="137160" cy="1371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Delegation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1938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individual Staff Nurse accounts tied to the specific facility ID.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432304"/>
            <a:ext cx="137160" cy="1371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386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" y="2633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fulfillment curves — tracking success vs. failure rates of daily collection drives.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3127248"/>
            <a:ext cx="137160" cy="1371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081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Consumption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automated, exportable digital shift briefs submitted by nurses directly to the dashboard mailbox.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822192"/>
            <a:ext cx="137160" cy="1371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Monitoring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" y="4023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regional blood inventory levels without phone calls or manual queries.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40233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97280"/>
            <a:ext cx="402336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115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STAFF NURSE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56048" y="1737360"/>
            <a:ext cx="137160" cy="13716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Code Lookup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84648" y="1938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or scan search field to verify incoming donor codes against active appointment databases.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56048" y="2432304"/>
            <a:ext cx="137160" cy="13716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2386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Status Updates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84648" y="2633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transition multiple appointment statuses from 'pending' to 'success' or 'failed' in one workflow.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56048" y="3127248"/>
            <a:ext cx="137160" cy="13716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3081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Report Generation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4648" y="3328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summaries of current day's operations, transmitted directly to the hospital dashboard.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56048" y="3822192"/>
            <a:ext cx="137160" cy="13716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4648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Hospital 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84648" y="4023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nurse account is bound to a specific hospital_id via foreign key — ensuring data isolation.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321040" y="109728"/>
            <a:ext cx="713232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09728"/>
            <a:ext cx="71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 Tables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2084832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2084832" cy="384048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1920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email · password · phone · role · created_at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95728" y="1078992"/>
            <a:ext cx="2084832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1078992"/>
            <a:ext cx="2084832" cy="384048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87168" y="1536192"/>
            <a:ext cx="1920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first_name · last_name · username · email · blood_group · age · weight · diseases · last_donation_date · total_donations · is_active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1078992"/>
            <a:ext cx="2084832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78992"/>
            <a:ext cx="2084832" cy="384048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536192"/>
            <a:ext cx="1920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email · password · location · phone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39128" y="1078992"/>
            <a:ext cx="2084832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39128" y="1078992"/>
            <a:ext cx="2084832" cy="384048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1097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0568" y="1536192"/>
            <a:ext cx="1920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hospital_id (FK) · name · email · password · phone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" y="2743200"/>
            <a:ext cx="26060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2743200"/>
            <a:ext cx="26060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7614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3200400"/>
            <a:ext cx="2423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donor_id (FK) · hospital_id (FK) · nurse_id (FK) · appointment_date · appointment_time · unique_code · status · created_at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10712" y="2743200"/>
            <a:ext cx="26060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10712" y="2743200"/>
            <a:ext cx="26060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27614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blood_inventory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02152" y="3200400"/>
            <a:ext cx="2423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blood_group (PK) · quantity_units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44768" y="2743200"/>
            <a:ext cx="26060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2743200"/>
            <a:ext cx="26060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27614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system_logs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3200400"/>
            <a:ext cx="24231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user_id · user_type · action · details · ip_address · created_at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Eligibility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VALIDATION GATES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859536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53312"/>
            <a:ext cx="109728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353312"/>
            <a:ext cx="2743200" cy="1078992"/>
          </a:xfrm>
          <a:prstGeom prst="rect">
            <a:avLst/>
          </a:prstGeom>
          <a:solidFill>
            <a:srgbClr val="FDFEFE"/>
          </a:solidFill>
          <a:ln w="12700">
            <a:solidFill>
              <a:srgbClr val="FDFE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Constraint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 ≤ age ≤ 65 years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490472"/>
            <a:ext cx="4572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8132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donor is within safe biological donation range. Below 18 or above 65 is automatically rejected.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66760" y="1353312"/>
            <a:ext cx="502920" cy="1078992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35331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449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60320"/>
            <a:ext cx="109728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560320"/>
            <a:ext cx="2743200" cy="1078992"/>
          </a:xfrm>
          <a:prstGeom prst="rect">
            <a:avLst/>
          </a:prstGeom>
          <a:solidFill>
            <a:srgbClr val="FDFEFE"/>
          </a:solidFill>
          <a:ln w="12700">
            <a:solidFill>
              <a:srgbClr val="FDFE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70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Constraint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 ≥ 50.00 kg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2697480"/>
            <a:ext cx="4572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688336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body mass threshold to prevent donor health risk during blood volume loss.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66760" y="2560320"/>
            <a:ext cx="502920" cy="1078992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25603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449"/>
                </a:solidFill>
              </a:rPr>
              <a:t>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" y="3767328"/>
            <a:ext cx="859536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67328"/>
            <a:ext cx="109728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767328"/>
            <a:ext cx="2743200" cy="1078992"/>
          </a:xfrm>
          <a:prstGeom prst="rect">
            <a:avLst/>
          </a:prstGeom>
          <a:solidFill>
            <a:srgbClr val="FDFEFE"/>
          </a:solidFill>
          <a:ln w="12700">
            <a:solidFill>
              <a:srgbClr val="FDFE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770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Delta Constraint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2245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(D_current − D_last) ≥ 90 days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54680" y="3904488"/>
            <a:ext cx="45720" cy="8229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895344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recovery window prevents premature re-donation. Last donation date is stored and compared against the booking date.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66760" y="3767328"/>
            <a:ext cx="502920" cy="1078992"/>
          </a:xfrm>
          <a:prstGeom prst="rect">
            <a:avLst/>
          </a:prstGeom>
          <a:solidFill>
            <a:srgbClr val="E9F7EF"/>
          </a:solidFill>
          <a:ln w="12700">
            <a:solidFill>
              <a:srgbClr val="E9F7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3767328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449"/>
                </a:solidFill>
              </a:rPr>
              <a:t>✓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gate fails → transaction aborts → UI shows disabled lock screen → user cannot proceed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Appointment State Machine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51560"/>
            <a:ext cx="2743200" cy="749808"/>
          </a:xfrm>
          <a:prstGeom prst="rect">
            <a:avLst/>
          </a:prstGeom>
          <a:solidFill>
            <a:srgbClr val="F4D03F"/>
          </a:solidFill>
          <a:ln w="25400">
            <a:solidFill>
              <a:srgbClr val="D4AC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0515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submits booking. 6-char alphanumeric code written to DB. Additional bookings blocked.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17136" y="1801368"/>
            <a:ext cx="109728" cy="475488"/>
          </a:xfrm>
          <a:prstGeom prst="rect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Verifies Code On-site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17136" y="2578608"/>
            <a:ext cx="109728" cy="384048"/>
          </a:xfrm>
          <a:prstGeom prst="rect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944368"/>
            <a:ext cx="2606040" cy="91440"/>
          </a:xfrm>
          <a:prstGeom prst="rect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2944368"/>
            <a:ext cx="2606040" cy="91440"/>
          </a:xfrm>
          <a:prstGeom prst="rect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944368"/>
            <a:ext cx="109728" cy="411480"/>
          </a:xfrm>
          <a:prstGeom prst="rect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4032" y="2944368"/>
            <a:ext cx="109728" cy="411480"/>
          </a:xfrm>
          <a:prstGeom prst="rect">
            <a:avLst/>
          </a:prstGeom>
          <a:solidFill>
            <a:srgbClr val="566573"/>
          </a:solidFill>
          <a:ln w="12700">
            <a:solidFill>
              <a:srgbClr val="5665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337560"/>
            <a:ext cx="3200400" cy="749808"/>
          </a:xfrm>
          <a:prstGeom prst="rect">
            <a:avLst/>
          </a:prstGeom>
          <a:solidFill>
            <a:srgbClr val="27AE60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3756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3337560"/>
            <a:ext cx="3200400" cy="749808"/>
          </a:xfrm>
          <a:prstGeom prst="rect">
            <a:avLst/>
          </a:prstGeom>
          <a:solidFill>
            <a:srgbClr val="C0392B"/>
          </a:solidFill>
          <a:ln w="25400">
            <a:solidFill>
              <a:srgbClr val="922B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33756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FAILED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3200400" cy="68580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3367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quantity_units</a:t>
            </a:r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+ 1 unit added to inventory
</a:t>
            </a:r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last_donation_date</a:t>
            </a:r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updated to today
</a:t>
            </a:r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total_donations</a:t>
            </a:r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counter +1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4206240"/>
            <a:ext cx="3200400" cy="685800"/>
          </a:xfrm>
          <a:prstGeom prst="rect">
            <a:avLst/>
          </a:prstGeom>
          <a:solidFill>
            <a:srgbClr val="FDEDEC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423367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unique_code</a:t>
            </a:r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invalidated
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lock released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unchanged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Blood Inventory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Tracking by Blood Group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A+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15544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11680"/>
            <a:ext cx="1321308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units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14173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79192" y="2011680"/>
            <a:ext cx="15544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9192" y="2011680"/>
            <a:ext cx="652882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units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B+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55464" y="2011680"/>
            <a:ext cx="15544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55464" y="2011680"/>
            <a:ext cx="1134770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units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03136" y="14173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03136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31736" y="2011680"/>
            <a:ext cx="15544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31736" y="2011680"/>
            <a:ext cx="279806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AB+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02920" y="3611880"/>
            <a:ext cx="15544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611880"/>
            <a:ext cx="870509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units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450592" y="30175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50592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679192" y="3611880"/>
            <a:ext cx="15544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9192" y="3611880"/>
            <a:ext cx="186538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50592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units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26864" y="30175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26864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O+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855464" y="3611880"/>
            <a:ext cx="15544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55464" y="3611880"/>
            <a:ext cx="1430122" cy="320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26864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units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03136" y="301752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03136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031736" y="3611880"/>
            <a:ext cx="1554480" cy="3200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31736" y="3611880"/>
            <a:ext cx="590702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03136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units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Formula:  quantity_units(new) = quantity_units(old) + 1  |  Triggered on Appointment → SUCCESS event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Quality Assurance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788920" cy="1280160"/>
          </a:xfrm>
          <a:prstGeom prst="rect">
            <a:avLst/>
          </a:prstGeom>
          <a:solidFill>
            <a:srgbClr val="1A25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155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Role-Based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role checked on every page. Mismatched roles trigger immediate termination before any sensitive code renders.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18688" y="1078992"/>
            <a:ext cx="2788920" cy="1280160"/>
          </a:xfrm>
          <a:prstGeom prst="rect">
            <a:avLst/>
          </a:prstGeom>
          <a:solidFill>
            <a:srgbClr val="1A25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1155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Forensic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Logging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0128" y="1664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system_logs.php captures user_id, user_type, action, IP address, and exact timestamps for every system event.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63056" y="1078992"/>
            <a:ext cx="2788920" cy="1280160"/>
          </a:xfrm>
          <a:prstGeom prst="rect">
            <a:avLst/>
          </a:prstGeom>
          <a:solidFill>
            <a:srgbClr val="1A252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1155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Cryptographic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Voucher Codes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54496" y="1664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appointment generates a unique alphanumeric code used as an immutable voucher at collection centers.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Isolation Boundary Testing — All Cases Passed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18745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52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Vector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2852928"/>
            <a:ext cx="18288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852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URL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2852928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852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Profile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852928"/>
            <a:ext cx="1965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852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75320" y="2852928"/>
            <a:ext cx="822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85292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291840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3284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User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40280" y="329184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04288" y="33284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/admin/dashboard.php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60520" y="329184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24528" y="33284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(Unauthenticated)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91840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332841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redirect to home via session_start.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75320" y="3291840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33284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785616"/>
            <a:ext cx="187452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38221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Identity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40280" y="3785616"/>
            <a:ext cx="182880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04288" y="38221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/admin/blood_inventory.php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60520" y="3785616"/>
            <a:ext cx="196596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24528" y="38221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Role = donor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3785616"/>
            <a:ext cx="196596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38221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mismatch → security termination.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75320" y="3785616"/>
            <a:ext cx="822960" cy="438912"/>
          </a:xfrm>
          <a:prstGeom prst="rect">
            <a:avLst/>
          </a:prstGeom>
          <a:solidFill>
            <a:srgbClr val="F2F3F4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39328" y="38221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279392"/>
            <a:ext cx="1874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" y="43159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Identity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40280" y="427939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04288" y="4315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/admin/system_logs.php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160520" y="4279392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24528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Role = nurse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17920" y="4279392"/>
            <a:ext cx="1965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81928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 before rendering sensitive code.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275320" y="4279392"/>
            <a:ext cx="822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39328" y="43159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1828800"/>
            <a:ext cx="5029200" cy="5029200"/>
          </a:xfrm>
          <a:prstGeom prst="ellipse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252728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216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web platform synchronizing 4 distinct user roles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801368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64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deterministic eligibility engine (age, weight, cooldown)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350008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313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blood inventory updates via transactional 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898648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8620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voucher system for secure donation verification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447288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4107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audit logging with IP capture and timestamps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995928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959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CSV-exportable automated shift reports for administrators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822960"/>
            <a:ext cx="39776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1261872"/>
            <a:ext cx="39776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2618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66944" y="12618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(Android/iOS) for donor self-service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1920240"/>
            <a:ext cx="39776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920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66944" y="1920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SMS/email notifications for appointment reminders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2578608"/>
            <a:ext cx="39776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57860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66944" y="25786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demand forecasting for inventory planning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236976"/>
            <a:ext cx="39776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23697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66944" y="323697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Cross-hospital real-time inventory federation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3895344"/>
            <a:ext cx="3977640" cy="5486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89534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66944" y="38953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donor identity verification integration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663440"/>
            <a:ext cx="41148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Donation Appointment &amp; Inventory Management System  ·  Wolkite University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 Members">
    <p:bg>
      <p:bgPr>
        <a:solidFill>
          <a:srgbClr val="1A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320040"/>
            <a:ext cx="8686080" cy="6858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3600" b="1" dirty="0">
                <a:solidFill>
                  <a:srgbClr val="C0392B"/>
                </a:solidFill>
              </a:rPr>
              <a:t>Team Members</a:t>
            </a:r>
          </a:p>
        </p:txBody>
      </p:sp>
      <p:sp>
        <p:nvSpPr>
          <p:cNvPr id="4" name="Divider"/>
          <p:cNvSpPr/>
          <p:nvPr/>
        </p:nvSpPr>
        <p:spPr>
          <a:xfrm>
            <a:off x="457200" y="1028700"/>
            <a:ext cx="8686080" cy="3810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5" name="LeftCol"/>
          <p:cNvSpPr/>
          <p:nvPr/>
        </p:nvSpPr>
        <p:spPr>
          <a:xfrm>
            <a:off x="457200" y="1200000"/>
            <a:ext cx="4000000" cy="3400000"/>
          </a:xfrm>
          <a:prstGeom prst="rect">
            <a:avLst/>
          </a:prstGeom>
          <a:noFill/>
        </p:spPr>
        <p:txBody>
          <a:bodyPr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</a:rPr>
              <a:t>1.  Filseta Tadesse</a:t>
            </a:r>
          </a:p>
          <a:p>
            <a:pPr algn="l">
              <a:spcBef>
                <a:spcPts val="800"/>
              </a:spcBef>
            </a:pPr>
            <a:r>
              <a:rPr lang="en-US" sz="2200" b="1" dirty="0">
                <a:solidFill>
                  <a:srgbClr val="FFFFFF"/>
                </a:solidFill>
              </a:rPr>
              <a:t>2.  Mihiret Getu</a:t>
            </a:r>
          </a:p>
          <a:p>
            <a:pPr algn="l">
              <a:spcBef>
                <a:spcPts val="800"/>
              </a:spcBef>
            </a:pPr>
            <a:r>
              <a:rPr lang="en-US" sz="2200" b="1" dirty="0">
                <a:solidFill>
                  <a:srgbClr val="FFFFFF"/>
                </a:solidFill>
              </a:rPr>
              <a:t>3.  Samrawit Lema</a:t>
            </a:r>
          </a:p>
        </p:txBody>
      </p:sp>
      <p:sp>
        <p:nvSpPr>
          <p:cNvPr id="6" name="RightCol"/>
          <p:cNvSpPr/>
          <p:nvPr/>
        </p:nvSpPr>
        <p:spPr>
          <a:xfrm>
            <a:off x="4800000" y="1200000"/>
            <a:ext cx="4343280" cy="3400000"/>
          </a:xfrm>
          <a:prstGeom prst="rect">
            <a:avLst/>
          </a:prstGeom>
          <a:noFill/>
        </p:spPr>
        <p:txBody>
          <a:bodyPr anchor="t"/>
          <a:lstStyle/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FFFF"/>
                </a:solidFill>
              </a:rPr>
              <a:t>4.  Bersufikad Kalsa</a:t>
            </a:r>
          </a:p>
          <a:p>
            <a:pPr algn="l">
              <a:spcBef>
                <a:spcPts val="800"/>
              </a:spcBef>
            </a:pPr>
            <a:r>
              <a:rPr lang="en-US" sz="2200" b="1" dirty="0">
                <a:solidFill>
                  <a:srgbClr val="FFFFFF"/>
                </a:solidFill>
              </a:rPr>
              <a:t>5.  Bereket Asfaw</a:t>
            </a:r>
          </a:p>
          <a:p>
            <a:pPr algn="l">
              <a:spcBef>
                <a:spcPts val="800"/>
              </a:spcBef>
            </a:pPr>
            <a:r>
              <a:rPr lang="en-US" sz="2200" b="1" dirty="0">
                <a:solidFill>
                  <a:srgbClr val="FFFFFF"/>
                </a:solidFill>
              </a:rPr>
              <a:t>6.  Mesud Nuredin</a:t>
            </a:r>
          </a:p>
        </p:txBody>
      </p:sp>
      <p:sp>
        <p:nvSpPr>
          <p:cNvPr id="7" name="Footer"/>
          <p:cNvSpPr/>
          <p:nvPr/>
        </p:nvSpPr>
        <p:spPr>
          <a:xfrm>
            <a:off x="457200" y="4800000"/>
            <a:ext cx="8686080" cy="3048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200" dirty="0">
                <a:solidFill>
                  <a:srgbClr val="7F8C8D"/>
                </a:solidFill>
              </a:rPr>
              <a:t>Blood Donation Appointment &amp; Inventory Management System  ·  Wolkite University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Donation Appointment &amp; Inventory Management System</dc:title>
  <dc:subject>PptxGenJS Presentation</dc:subject>
  <dc:creator>PptxGenJS</dc:creator>
  <cp:lastModifiedBy>PptxGenJS</cp:lastModifiedBy>
  <cp:revision>1</cp:revision>
  <dcterms:created xsi:type="dcterms:W3CDTF">2026-05-19T09:42:01Z</dcterms:created>
  <dcterms:modified xsi:type="dcterms:W3CDTF">2026-05-19T09:42:01Z</dcterms:modified>
</cp:coreProperties>
</file>